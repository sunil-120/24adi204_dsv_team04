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Roca Two Heavy" panose="020B0604020202020204" charset="0"/>
      <p:regular r:id="rId15"/>
    </p:embeddedFont>
    <p:embeddedFont>
      <p:font typeface="TT Chocolate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7308" y="415332"/>
            <a:ext cx="17413383" cy="9456337"/>
            <a:chOff x="0" y="0"/>
            <a:chExt cx="4586241" cy="24905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719170"/>
            <a:ext cx="12735788" cy="314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39"/>
              </a:lnSpc>
            </a:pPr>
            <a:r>
              <a:rPr lang="en-US" sz="27000" b="1" spc="-2052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MOVIE</a:t>
            </a:r>
          </a:p>
          <a:p>
            <a:pPr algn="l">
              <a:lnSpc>
                <a:spcPts val="22139"/>
              </a:lnSpc>
            </a:pPr>
            <a:endParaRPr lang="en-US" sz="27000" b="1" spc="-2052">
              <a:solidFill>
                <a:srgbClr val="1D348A"/>
              </a:solidFill>
              <a:latin typeface="Roca Two Heavy"/>
              <a:ea typeface="Roca Two Heavy"/>
              <a:cs typeface="Roca Two Heavy"/>
              <a:sym typeface="Roca Two Heavy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5303174" y="715124"/>
            <a:ext cx="1571174" cy="627153"/>
            <a:chOff x="0" y="0"/>
            <a:chExt cx="1018133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8133" cy="406400"/>
            </a:xfrm>
            <a:custGeom>
              <a:avLst/>
              <a:gdLst/>
              <a:ahLst/>
              <a:cxnLst/>
              <a:rect l="l" t="t" r="r" b="b"/>
              <a:pathLst>
                <a:path w="1018133" h="406400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148710" y="5541274"/>
            <a:ext cx="1393548" cy="1440654"/>
          </a:xfrm>
          <a:custGeom>
            <a:avLst/>
            <a:gdLst/>
            <a:ahLst/>
            <a:cxnLst/>
            <a:rect l="l" t="t" r="r" b="b"/>
            <a:pathLst>
              <a:path w="1393548" h="1440654">
                <a:moveTo>
                  <a:pt x="0" y="0"/>
                </a:moveTo>
                <a:lnTo>
                  <a:pt x="1393548" y="0"/>
                </a:lnTo>
                <a:lnTo>
                  <a:pt x="1393548" y="1440654"/>
                </a:lnTo>
                <a:lnTo>
                  <a:pt x="0" y="1440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8821860" y="109527"/>
            <a:ext cx="644280" cy="64428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918222" y="830279"/>
            <a:ext cx="2341078" cy="349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sp>
        <p:nvSpPr>
          <p:cNvPr id="15" name="Freeform 15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8821860" y="9533193"/>
            <a:ext cx="644280" cy="64428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318696" y="8284605"/>
            <a:ext cx="4102164" cy="48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Data Visualization Project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5082654"/>
            <a:ext cx="12735788" cy="228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8"/>
              </a:lnSpc>
            </a:pPr>
            <a:r>
              <a:rPr lang="en-US" sz="10400" b="1" spc="-790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SUCCESS PREDICTOR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70778" y="8284605"/>
            <a:ext cx="4102164" cy="48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Faculty : Dr Rupashini P 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986597" y="8284605"/>
            <a:ext cx="4102164" cy="48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Department : AIDS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7308" y="415332"/>
            <a:ext cx="17413383" cy="9456337"/>
            <a:chOff x="0" y="0"/>
            <a:chExt cx="4586241" cy="24905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492275" y="8025002"/>
            <a:ext cx="1192972" cy="1233298"/>
          </a:xfrm>
          <a:custGeom>
            <a:avLst/>
            <a:gdLst/>
            <a:ahLst/>
            <a:cxnLst/>
            <a:rect l="l" t="t" r="r" b="b"/>
            <a:pathLst>
              <a:path w="1192972" h="1233298">
                <a:moveTo>
                  <a:pt x="0" y="0"/>
                </a:moveTo>
                <a:lnTo>
                  <a:pt x="1192972" y="0"/>
                </a:lnTo>
                <a:lnTo>
                  <a:pt x="1192972" y="1233298"/>
                </a:lnTo>
                <a:lnTo>
                  <a:pt x="0" y="1233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47751" y="4269872"/>
            <a:ext cx="1102977" cy="1102977"/>
          </a:xfrm>
          <a:custGeom>
            <a:avLst/>
            <a:gdLst/>
            <a:ahLst/>
            <a:cxnLst/>
            <a:rect l="l" t="t" r="r" b="b"/>
            <a:pathLst>
              <a:path w="1102977" h="1102977">
                <a:moveTo>
                  <a:pt x="0" y="0"/>
                </a:moveTo>
                <a:lnTo>
                  <a:pt x="1102977" y="0"/>
                </a:lnTo>
                <a:lnTo>
                  <a:pt x="1102977" y="1102977"/>
                </a:lnTo>
                <a:lnTo>
                  <a:pt x="0" y="11029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90973" y="2588736"/>
            <a:ext cx="7127402" cy="162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14000" b="1" spc="-1064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TEAM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48966" y="2588736"/>
            <a:ext cx="8454208" cy="162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480"/>
              </a:lnSpc>
            </a:pPr>
            <a:r>
              <a:rPr lang="en-US" sz="14000" b="1" spc="-1064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MEMBERS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5168" y="4821360"/>
            <a:ext cx="644280" cy="64428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23482" y="4922445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7528552" y="4821360"/>
            <a:ext cx="644280" cy="64428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636865" y="4922445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903016" y="4431283"/>
            <a:ext cx="9548636" cy="3411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5027" lvl="1" indent="-527513" algn="l">
              <a:lnSpc>
                <a:spcPts val="6841"/>
              </a:lnSpc>
              <a:buFont typeface="Arial"/>
              <a:buChar char="•"/>
            </a:pPr>
            <a:r>
              <a:rPr lang="en-US" sz="48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SUNIL E - 25BAD120</a:t>
            </a:r>
          </a:p>
          <a:p>
            <a:pPr marL="1055027" lvl="1" indent="-527513" algn="l">
              <a:lnSpc>
                <a:spcPts val="6841"/>
              </a:lnSpc>
              <a:buFont typeface="Arial"/>
              <a:buChar char="•"/>
            </a:pPr>
            <a:r>
              <a:rPr lang="en-US" sz="48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VISHWAANTH N - 25BAD130</a:t>
            </a:r>
          </a:p>
          <a:p>
            <a:pPr marL="1055027" lvl="1" indent="-527513" algn="l">
              <a:lnSpc>
                <a:spcPts val="6841"/>
              </a:lnSpc>
              <a:buFont typeface="Arial"/>
              <a:buChar char="•"/>
            </a:pPr>
            <a:r>
              <a:rPr lang="en-US" sz="48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DEJASHWIN R P - 25BAD019</a:t>
            </a:r>
          </a:p>
          <a:p>
            <a:pPr marL="1055027" lvl="1" indent="-527513" algn="l">
              <a:lnSpc>
                <a:spcPts val="6841"/>
              </a:lnSpc>
              <a:buFont typeface="Arial"/>
              <a:buChar char="•"/>
            </a:pPr>
            <a:r>
              <a:rPr lang="en-US" sz="48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RAGUNATH T - 25BAD085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7308" y="415332"/>
            <a:ext cx="17413383" cy="9456337"/>
            <a:chOff x="0" y="0"/>
            <a:chExt cx="4586241" cy="24905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006090"/>
            <a:ext cx="10941946" cy="162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14000" b="1" spc="-1064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Introduction</a:t>
            </a:r>
          </a:p>
        </p:txBody>
      </p:sp>
      <p:sp>
        <p:nvSpPr>
          <p:cNvPr id="7" name="Freeform 7"/>
          <p:cNvSpPr/>
          <p:nvPr/>
        </p:nvSpPr>
        <p:spPr>
          <a:xfrm flipH="1" flipV="1">
            <a:off x="11970646" y="2078938"/>
            <a:ext cx="952645" cy="952645"/>
          </a:xfrm>
          <a:custGeom>
            <a:avLst/>
            <a:gdLst/>
            <a:ahLst/>
            <a:cxnLst/>
            <a:rect l="l" t="t" r="r" b="b"/>
            <a:pathLst>
              <a:path w="952645" h="952645">
                <a:moveTo>
                  <a:pt x="952645" y="952645"/>
                </a:moveTo>
                <a:lnTo>
                  <a:pt x="0" y="952645"/>
                </a:lnTo>
                <a:lnTo>
                  <a:pt x="0" y="0"/>
                </a:lnTo>
                <a:lnTo>
                  <a:pt x="952645" y="0"/>
                </a:lnTo>
                <a:lnTo>
                  <a:pt x="952645" y="9526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821860" y="109527"/>
            <a:ext cx="644280" cy="64428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8821860" y="9533193"/>
            <a:ext cx="644280" cy="64428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3577081"/>
            <a:ext cx="7429500" cy="1012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What is Movie Success Prediction?</a:t>
            </a:r>
          </a:p>
          <a:p>
            <a:pPr algn="ctr">
              <a:lnSpc>
                <a:spcPts val="4060"/>
              </a:lnSpc>
            </a:pPr>
            <a:endParaRPr lang="en-US" sz="2900" dirty="0">
              <a:solidFill>
                <a:srgbClr val="1D348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50840" y="4202430"/>
            <a:ext cx="16230600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Movie Success Prediction is a machine learning application that predicts whether a movie is likely to become successful based on its characteristics before its release.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438196"/>
            <a:ext cx="4991100" cy="1016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Why is it important?</a:t>
            </a:r>
          </a:p>
          <a:p>
            <a:pPr algn="ctr">
              <a:lnSpc>
                <a:spcPts val="4060"/>
              </a:lnSpc>
            </a:pPr>
            <a:endParaRPr lang="en-US" sz="2900" dirty="0">
              <a:solidFill>
                <a:srgbClr val="1D348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50840" y="6124862"/>
            <a:ext cx="16230600" cy="236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Helps producers reduce financial risks.</a:t>
            </a:r>
          </a:p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Supports investment decisions.</a:t>
            </a:r>
          </a:p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Assists production companies in planning.</a:t>
            </a:r>
          </a:p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Provides insights into factors affecting movie success.</a:t>
            </a:r>
          </a:p>
          <a:p>
            <a:pPr algn="l">
              <a:lnSpc>
                <a:spcPts val="3780"/>
              </a:lnSpc>
            </a:pPr>
            <a:endParaRPr lang="en-US" sz="2700" dirty="0">
              <a:solidFill>
                <a:srgbClr val="1D348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7308" y="415332"/>
            <a:ext cx="17413383" cy="9456337"/>
            <a:chOff x="0" y="0"/>
            <a:chExt cx="4586241" cy="24905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038809"/>
            <a:ext cx="7480268" cy="1644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14000" b="1" spc="-1064" dirty="0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7214" y="3451622"/>
            <a:ext cx="9779906" cy="1644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14000" b="1" spc="-1064" dirty="0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Statement</a:t>
            </a:r>
          </a:p>
        </p:txBody>
      </p:sp>
      <p:sp>
        <p:nvSpPr>
          <p:cNvPr id="8" name="Freeform 8"/>
          <p:cNvSpPr/>
          <p:nvPr/>
        </p:nvSpPr>
        <p:spPr>
          <a:xfrm>
            <a:off x="8547514" y="1983818"/>
            <a:ext cx="1192972" cy="1233298"/>
          </a:xfrm>
          <a:custGeom>
            <a:avLst/>
            <a:gdLst/>
            <a:ahLst/>
            <a:cxnLst/>
            <a:rect l="l" t="t" r="r" b="b"/>
            <a:pathLst>
              <a:path w="1192972" h="1233298">
                <a:moveTo>
                  <a:pt x="0" y="0"/>
                </a:moveTo>
                <a:lnTo>
                  <a:pt x="1192972" y="0"/>
                </a:lnTo>
                <a:lnTo>
                  <a:pt x="1192972" y="1233298"/>
                </a:lnTo>
                <a:lnTo>
                  <a:pt x="0" y="1233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15168" y="4821360"/>
            <a:ext cx="644280" cy="64428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23482" y="4922445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7528552" y="4821360"/>
            <a:ext cx="644280" cy="64428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7636865" y="4922445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425381" y="2256472"/>
            <a:ext cx="6833919" cy="306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The movie industry invests huge amounts in film production without knowing whether a movie will succeed or fail. Our project predicts the probability of a movie's success before its release.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14851" y="5398965"/>
            <a:ext cx="9744551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Reduces financial losses.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Improves decision-making.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Helps choose the right production strategy.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Supports data-driven movie planning.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1D348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7308" y="415332"/>
            <a:ext cx="17413383" cy="9456337"/>
            <a:chOff x="0" y="0"/>
            <a:chExt cx="4586241" cy="24905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0189" y="2419521"/>
            <a:ext cx="7831671" cy="162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14000" b="1" spc="-1064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Objectives</a:t>
            </a:r>
          </a:p>
        </p:txBody>
      </p:sp>
      <p:sp>
        <p:nvSpPr>
          <p:cNvPr id="7" name="Freeform 7"/>
          <p:cNvSpPr/>
          <p:nvPr/>
        </p:nvSpPr>
        <p:spPr>
          <a:xfrm>
            <a:off x="1358793" y="8025002"/>
            <a:ext cx="1192972" cy="1233298"/>
          </a:xfrm>
          <a:custGeom>
            <a:avLst/>
            <a:gdLst/>
            <a:ahLst/>
            <a:cxnLst/>
            <a:rect l="l" t="t" r="r" b="b"/>
            <a:pathLst>
              <a:path w="1192972" h="1233298">
                <a:moveTo>
                  <a:pt x="0" y="0"/>
                </a:moveTo>
                <a:lnTo>
                  <a:pt x="1192973" y="0"/>
                </a:lnTo>
                <a:lnTo>
                  <a:pt x="1192973" y="1233298"/>
                </a:lnTo>
                <a:lnTo>
                  <a:pt x="0" y="1233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5434504" y="4324414"/>
            <a:ext cx="1102977" cy="1102977"/>
          </a:xfrm>
          <a:custGeom>
            <a:avLst/>
            <a:gdLst/>
            <a:ahLst/>
            <a:cxnLst/>
            <a:rect l="l" t="t" r="r" b="b"/>
            <a:pathLst>
              <a:path w="1102977" h="1102977">
                <a:moveTo>
                  <a:pt x="1102977" y="1102977"/>
                </a:moveTo>
                <a:lnTo>
                  <a:pt x="0" y="1102977"/>
                </a:lnTo>
                <a:lnTo>
                  <a:pt x="0" y="0"/>
                </a:lnTo>
                <a:lnTo>
                  <a:pt x="1102977" y="0"/>
                </a:lnTo>
                <a:lnTo>
                  <a:pt x="1102977" y="110297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8821860" y="109527"/>
            <a:ext cx="644280" cy="64428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8821860" y="9533193"/>
            <a:ext cx="644280" cy="64428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936694" y="4460811"/>
            <a:ext cx="9643586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Predict movie success probability.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Analyze factors influencing movie success.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Compare different movie attributes.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Build a machine learning prediction model.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Visualize important trends and insights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1D348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7308" y="415332"/>
            <a:ext cx="17413383" cy="9456337"/>
            <a:chOff x="0" y="0"/>
            <a:chExt cx="4586241" cy="24905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735894"/>
            <a:ext cx="11048397" cy="3085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14000" b="1" spc="-1064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Dataset Overview</a:t>
            </a:r>
          </a:p>
        </p:txBody>
      </p:sp>
      <p:sp>
        <p:nvSpPr>
          <p:cNvPr id="7" name="Freeform 7"/>
          <p:cNvSpPr/>
          <p:nvPr/>
        </p:nvSpPr>
        <p:spPr>
          <a:xfrm flipV="1">
            <a:off x="7064474" y="1561007"/>
            <a:ext cx="1102977" cy="1102977"/>
          </a:xfrm>
          <a:custGeom>
            <a:avLst/>
            <a:gdLst/>
            <a:ahLst/>
            <a:cxnLst/>
            <a:rect l="l" t="t" r="r" b="b"/>
            <a:pathLst>
              <a:path w="1102977" h="1102977">
                <a:moveTo>
                  <a:pt x="0" y="1102977"/>
                </a:moveTo>
                <a:lnTo>
                  <a:pt x="1102977" y="1102977"/>
                </a:lnTo>
                <a:lnTo>
                  <a:pt x="1102977" y="0"/>
                </a:lnTo>
                <a:lnTo>
                  <a:pt x="0" y="0"/>
                </a:lnTo>
                <a:lnTo>
                  <a:pt x="0" y="110297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15168" y="4821360"/>
            <a:ext cx="644280" cy="64428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23482" y="4922445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7528552" y="4821360"/>
            <a:ext cx="644280" cy="64428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7636865" y="4922445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819706" y="3323591"/>
            <a:ext cx="3743894" cy="635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 dirty="0">
                <a:solidFill>
                  <a:srgbClr val="1D34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Source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40015" y="4131945"/>
            <a:ext cx="3599379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Kaggle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0" y="4563110"/>
            <a:ext cx="528527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D34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Size: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38128" y="5307405"/>
            <a:ext cx="7705872" cy="3569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Around 5,000 movies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 28 features (attributes)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 Covers movies released over multiple years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Includes films from different countries and languages</a:t>
            </a:r>
          </a:p>
          <a:p>
            <a:pPr algn="ctr">
              <a:lnSpc>
                <a:spcPts val="4759"/>
              </a:lnSpc>
            </a:pPr>
            <a:endParaRPr lang="en-US" sz="2800">
              <a:solidFill>
                <a:srgbClr val="1D348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282958" y="4885250"/>
            <a:ext cx="528527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1D34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Information we use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74273" y="5651971"/>
            <a:ext cx="7043990" cy="255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Budget, Genre, Runtime, Director, Cast, Production Company, Language, Country, Release Month or Year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1D348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7308" y="415332"/>
            <a:ext cx="17413383" cy="9456337"/>
            <a:chOff x="0" y="0"/>
            <a:chExt cx="4586241" cy="24905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63477" y="1847214"/>
            <a:ext cx="10267031" cy="3085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14000" b="1" spc="-1064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Technologies Used</a:t>
            </a:r>
          </a:p>
        </p:txBody>
      </p:sp>
      <p:sp>
        <p:nvSpPr>
          <p:cNvPr id="7" name="Freeform 7"/>
          <p:cNvSpPr/>
          <p:nvPr/>
        </p:nvSpPr>
        <p:spPr>
          <a:xfrm>
            <a:off x="11496342" y="1730797"/>
            <a:ext cx="1192972" cy="1233298"/>
          </a:xfrm>
          <a:custGeom>
            <a:avLst/>
            <a:gdLst/>
            <a:ahLst/>
            <a:cxnLst/>
            <a:rect l="l" t="t" r="r" b="b"/>
            <a:pathLst>
              <a:path w="1192972" h="1233298">
                <a:moveTo>
                  <a:pt x="0" y="0"/>
                </a:moveTo>
                <a:lnTo>
                  <a:pt x="1192973" y="0"/>
                </a:lnTo>
                <a:lnTo>
                  <a:pt x="1192973" y="1233298"/>
                </a:lnTo>
                <a:lnTo>
                  <a:pt x="0" y="1233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821860" y="109527"/>
            <a:ext cx="644280" cy="64428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930173" y="210613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8821860" y="9533193"/>
            <a:ext cx="644280" cy="64428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8930173" y="9634278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287237" y="4875530"/>
            <a:ext cx="4245888" cy="4453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Python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Pandas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NumPy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Matplotlib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Seaborn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Scikit-learn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Jupyter Notebook</a:t>
            </a:r>
          </a:p>
          <a:p>
            <a:pPr algn="l">
              <a:lnSpc>
                <a:spcPts val="4340"/>
              </a:lnSpc>
            </a:pPr>
            <a:endParaRPr lang="en-US" sz="3200">
              <a:solidFill>
                <a:srgbClr val="1D348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7308" y="415332"/>
            <a:ext cx="17413383" cy="9456337"/>
            <a:chOff x="0" y="0"/>
            <a:chExt cx="4586241" cy="24905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01196" y="2061384"/>
            <a:ext cx="10085608" cy="162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0"/>
              </a:lnSpc>
            </a:pPr>
            <a:r>
              <a:rPr lang="en-US" sz="14000" b="1" spc="-1064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Methodology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5168" y="4821360"/>
            <a:ext cx="644280" cy="64428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23482" y="4922445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7528552" y="4821360"/>
            <a:ext cx="644280" cy="64428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7636865" y="4922445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480149" y="3277235"/>
            <a:ext cx="7327702" cy="59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Data Collection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Data Cleaning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Data Preprocessing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Exploratory Data Analysis (EDA)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Feature Engineering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Model Training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Model Evaluation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Prediction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Result Visualization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1D348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7308" y="415332"/>
            <a:ext cx="17413383" cy="9456337"/>
            <a:chOff x="0" y="0"/>
            <a:chExt cx="4586241" cy="24905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Freeform 6" descr="geometric shape"/>
          <p:cNvSpPr/>
          <p:nvPr/>
        </p:nvSpPr>
        <p:spPr>
          <a:xfrm>
            <a:off x="10108203" y="2052173"/>
            <a:ext cx="1067528" cy="1103614"/>
          </a:xfrm>
          <a:custGeom>
            <a:avLst/>
            <a:gdLst/>
            <a:ahLst/>
            <a:cxnLst/>
            <a:rect l="l" t="t" r="r" b="b"/>
            <a:pathLst>
              <a:path w="1067528" h="1103614">
                <a:moveTo>
                  <a:pt x="0" y="0"/>
                </a:moveTo>
                <a:lnTo>
                  <a:pt x="1067528" y="0"/>
                </a:lnTo>
                <a:lnTo>
                  <a:pt x="1067528" y="1103613"/>
                </a:lnTo>
                <a:lnTo>
                  <a:pt x="0" y="1103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528552" y="4821360"/>
            <a:ext cx="644280" cy="64428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0" name="Freeform 10" descr="geometric shape"/>
          <p:cNvSpPr/>
          <p:nvPr/>
        </p:nvSpPr>
        <p:spPr>
          <a:xfrm>
            <a:off x="17636865" y="4922445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-7753719" y="2226888"/>
            <a:ext cx="17564838" cy="162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480"/>
              </a:lnSpc>
            </a:pPr>
            <a:r>
              <a:rPr lang="en-US" sz="14000" b="1" spc="-1064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897565"/>
            <a:ext cx="469946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1D34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Summary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1672" y="4453328"/>
            <a:ext cx="6897892" cy="341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endParaRPr/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Analyzed important movie features.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Generated probability-based predictions.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Helped estimate movie performance before release.</a:t>
            </a:r>
          </a:p>
          <a:p>
            <a:pPr algn="ctr">
              <a:lnSpc>
                <a:spcPts val="3640"/>
              </a:lnSpc>
            </a:pPr>
            <a:endParaRPr lang="en-US" sz="2800">
              <a:solidFill>
                <a:srgbClr val="1D348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826001" y="3897565"/>
            <a:ext cx="469946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1D34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52651" y="4865295"/>
            <a:ext cx="6545623" cy="341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Supports production companies.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Reduces investment risk.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Improves planning and marketing.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Enables data-driven decision-making.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1D348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640"/>
              </a:lnSpc>
            </a:pPr>
            <a:endParaRPr lang="en-US" sz="2800">
              <a:solidFill>
                <a:srgbClr val="1D348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7308" y="415332"/>
            <a:ext cx="17413383" cy="9456337"/>
            <a:chOff x="0" y="0"/>
            <a:chExt cx="4586241" cy="24905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28552" y="4821360"/>
            <a:ext cx="644280" cy="64428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9" name="Freeform 9" descr="geometric shape"/>
          <p:cNvSpPr/>
          <p:nvPr/>
        </p:nvSpPr>
        <p:spPr>
          <a:xfrm>
            <a:off x="17636865" y="4922445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93025" y="2336176"/>
            <a:ext cx="10085608" cy="162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0"/>
              </a:lnSpc>
            </a:pPr>
            <a:r>
              <a:rPr lang="en-US" sz="14000" b="1" spc="-1064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Future Scope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42309" y="3897642"/>
            <a:ext cx="10085608" cy="5498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Build a </a:t>
            </a:r>
            <a:r>
              <a:rPr lang="en-US" sz="3399" dirty="0" err="1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Streamlit</a:t>
            </a:r>
            <a:r>
              <a:rPr lang="en-US" sz="3399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 Web Application.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Use Deep Learning models.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Predict Box Office Revenue.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Integrate IMDb and </a:t>
            </a:r>
            <a:r>
              <a:rPr lang="en-US" sz="3399" dirty="0" err="1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TMDb</a:t>
            </a:r>
            <a:r>
              <a:rPr lang="en-US" sz="3399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 APIs to predict the success in a particular week or day.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Analyze audience expectations and social media sentiment.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1D348A"/>
                </a:solidFill>
                <a:latin typeface="Canva Sans"/>
                <a:ea typeface="Canva Sans"/>
                <a:cs typeface="Canva Sans"/>
                <a:sym typeface="Canva Sans"/>
              </a:rPr>
              <a:t>Provide real-time movie success prediction.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1D348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11" b="-15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7308" y="415332"/>
            <a:ext cx="17413383" cy="9456337"/>
            <a:chOff x="0" y="0"/>
            <a:chExt cx="4586241" cy="24905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86241" cy="2490558"/>
            </a:xfrm>
            <a:custGeom>
              <a:avLst/>
              <a:gdLst/>
              <a:ahLst/>
              <a:cxnLst/>
              <a:rect l="l" t="t" r="r" b="b"/>
              <a:pathLst>
                <a:path w="4586241" h="2490558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305538" y="3244861"/>
            <a:ext cx="17564838" cy="314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139"/>
              </a:lnSpc>
            </a:pPr>
            <a:r>
              <a:rPr lang="en-US" sz="27000" b="1" spc="-2052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Thank You!</a:t>
            </a:r>
          </a:p>
        </p:txBody>
      </p:sp>
      <p:sp>
        <p:nvSpPr>
          <p:cNvPr id="7" name="Freeform 7"/>
          <p:cNvSpPr/>
          <p:nvPr/>
        </p:nvSpPr>
        <p:spPr>
          <a:xfrm>
            <a:off x="8119770" y="6386206"/>
            <a:ext cx="2048459" cy="2117703"/>
          </a:xfrm>
          <a:custGeom>
            <a:avLst/>
            <a:gdLst/>
            <a:ahLst/>
            <a:cxnLst/>
            <a:rect l="l" t="t" r="r" b="b"/>
            <a:pathLst>
              <a:path w="2048459" h="2117703">
                <a:moveTo>
                  <a:pt x="0" y="0"/>
                </a:moveTo>
                <a:lnTo>
                  <a:pt x="2048460" y="0"/>
                </a:lnTo>
                <a:lnTo>
                  <a:pt x="2048460" y="2117702"/>
                </a:lnTo>
                <a:lnTo>
                  <a:pt x="0" y="2117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15168" y="4821360"/>
            <a:ext cx="644280" cy="64428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23482" y="4922445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7528552" y="4821360"/>
            <a:ext cx="644280" cy="64428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7636865" y="4922445"/>
            <a:ext cx="427653" cy="442109"/>
          </a:xfrm>
          <a:custGeom>
            <a:avLst/>
            <a:gdLst/>
            <a:ahLst/>
            <a:cxnLst/>
            <a:rect l="l" t="t" r="r" b="b"/>
            <a:pathLst>
              <a:path w="427653" h="442109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353</Words>
  <Application>Microsoft Office PowerPoint</Application>
  <PresentationFormat>Custom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Canva Sans</vt:lpstr>
      <vt:lpstr>Roca Two Heavy</vt:lpstr>
      <vt:lpstr>Calibri</vt:lpstr>
      <vt:lpstr>Canva Sans Bold</vt:lpstr>
      <vt:lpstr>Arial</vt:lpstr>
      <vt:lpstr>TT Chocolates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Grey Modern Geometric Simple Minimalist Pitch Deck Presentation</dc:title>
  <cp:lastModifiedBy>Sunil E 25BAD120</cp:lastModifiedBy>
  <cp:revision>5</cp:revision>
  <dcterms:created xsi:type="dcterms:W3CDTF">2006-08-16T00:00:00Z</dcterms:created>
  <dcterms:modified xsi:type="dcterms:W3CDTF">2026-07-30T10:27:14Z</dcterms:modified>
  <dc:identifier>DAHQ1bpvm4Y</dc:identifier>
</cp:coreProperties>
</file>